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71" r:id="rId3"/>
    <p:sldId id="257" r:id="rId4"/>
    <p:sldId id="259" r:id="rId5"/>
    <p:sldId id="272" r:id="rId6"/>
    <p:sldId id="270" r:id="rId7"/>
    <p:sldId id="263" r:id="rId8"/>
    <p:sldId id="260" r:id="rId9"/>
    <p:sldId id="274" r:id="rId10"/>
    <p:sldId id="266" r:id="rId11"/>
    <p:sldId id="276" r:id="rId12"/>
    <p:sldId id="277" r:id="rId13"/>
    <p:sldId id="278" r:id="rId14"/>
    <p:sldId id="275" r:id="rId15"/>
    <p:sldId id="267" r:id="rId1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90"/>
    <p:restoredTop sz="94703"/>
  </p:normalViewPr>
  <p:slideViewPr>
    <p:cSldViewPr snapToGrid="0">
      <p:cViewPr varScale="1">
        <p:scale>
          <a:sx n="171" d="100"/>
          <a:sy n="171" d="100"/>
        </p:scale>
        <p:origin x="824" y="1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/>
          </a:p>
        </p:txBody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654deed3a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/>
          </a:p>
        </p:txBody>
      </p:sp>
      <p:sp>
        <p:nvSpPr>
          <p:cNvPr id="58" name="Google Shape;58;g3b654deed3a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654deed3a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/>
          </a:p>
        </p:txBody>
      </p:sp>
      <p:sp>
        <p:nvSpPr>
          <p:cNvPr id="72" name="Google Shape;72;g3b654deed3a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654deed3a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/>
          </a:p>
        </p:txBody>
      </p:sp>
      <p:sp>
        <p:nvSpPr>
          <p:cNvPr id="114" name="Google Shape;114;g3b654deed3a_1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b654deed3a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/>
          </a:p>
        </p:txBody>
      </p:sp>
      <p:sp>
        <p:nvSpPr>
          <p:cNvPr id="83" name="Google Shape;83;g3b654deed3a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50550ABF-B28F-AD78-2384-4977C1B27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654deed3a_0_75:notes">
            <a:extLst>
              <a:ext uri="{FF2B5EF4-FFF2-40B4-BE49-F238E27FC236}">
                <a16:creationId xmlns:a16="http://schemas.microsoft.com/office/drawing/2014/main" id="{3E24E24F-AD37-36B4-0C8D-BD59842E78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/>
          </a:p>
        </p:txBody>
      </p:sp>
      <p:sp>
        <p:nvSpPr>
          <p:cNvPr id="138" name="Google Shape;138;g3b654deed3a_0_75:notes">
            <a:extLst>
              <a:ext uri="{FF2B5EF4-FFF2-40B4-BE49-F238E27FC236}">
                <a16:creationId xmlns:a16="http://schemas.microsoft.com/office/drawing/2014/main" id="{D602EBEC-5649-9700-E9AE-7D0C60317D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846047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654deed3a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/>
          </a:p>
        </p:txBody>
      </p:sp>
      <p:sp>
        <p:nvSpPr>
          <p:cNvPr id="138" name="Google Shape;138;g3b654deed3a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DC8ADBEF-D04D-62EF-4228-AF5151A3F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654deed3a_0_75:notes">
            <a:extLst>
              <a:ext uri="{FF2B5EF4-FFF2-40B4-BE49-F238E27FC236}">
                <a16:creationId xmlns:a16="http://schemas.microsoft.com/office/drawing/2014/main" id="{29645271-8B29-9BAD-D75B-29ECE6E875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/>
          </a:p>
        </p:txBody>
      </p:sp>
      <p:sp>
        <p:nvSpPr>
          <p:cNvPr id="138" name="Google Shape;138;g3b654deed3a_0_75:notes">
            <a:extLst>
              <a:ext uri="{FF2B5EF4-FFF2-40B4-BE49-F238E27FC236}">
                <a16:creationId xmlns:a16="http://schemas.microsoft.com/office/drawing/2014/main" id="{7C174A3A-2EEF-73F3-D7C7-7548E02115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778553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7D7EBF78-2CCD-AF79-6543-AD7361316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654deed3a_0_75:notes">
            <a:extLst>
              <a:ext uri="{FF2B5EF4-FFF2-40B4-BE49-F238E27FC236}">
                <a16:creationId xmlns:a16="http://schemas.microsoft.com/office/drawing/2014/main" id="{D7985EA6-3D5D-F786-EBA6-246C22AFB7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/>
          </a:p>
        </p:txBody>
      </p:sp>
      <p:sp>
        <p:nvSpPr>
          <p:cNvPr id="138" name="Google Shape;138;g3b654deed3a_0_75:notes">
            <a:extLst>
              <a:ext uri="{FF2B5EF4-FFF2-40B4-BE49-F238E27FC236}">
                <a16:creationId xmlns:a16="http://schemas.microsoft.com/office/drawing/2014/main" id="{3D02ABDC-BE77-BA1B-BB64-341499DB4C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226918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8D321AFA-61B5-F47A-2842-EA4A23F87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654deed3a_0_75:notes">
            <a:extLst>
              <a:ext uri="{FF2B5EF4-FFF2-40B4-BE49-F238E27FC236}">
                <a16:creationId xmlns:a16="http://schemas.microsoft.com/office/drawing/2014/main" id="{B05BB694-33B7-E11C-5706-7DD9B0B5EB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/>
          </a:p>
        </p:txBody>
      </p:sp>
      <p:sp>
        <p:nvSpPr>
          <p:cNvPr id="138" name="Google Shape;138;g3b654deed3a_0_75:notes">
            <a:extLst>
              <a:ext uri="{FF2B5EF4-FFF2-40B4-BE49-F238E27FC236}">
                <a16:creationId xmlns:a16="http://schemas.microsoft.com/office/drawing/2014/main" id="{55435382-1288-2BD2-2BBE-BAD39496B2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75995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b654deed3a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/>
          </a:p>
        </p:txBody>
      </p:sp>
      <p:sp>
        <p:nvSpPr>
          <p:cNvPr id="148" name="Google Shape;148;g3b654deed3a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dark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LorenzoPinaUnimib/Dataset_Degradetio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" sz="3400" b="1" dirty="0"/>
              <a:t>Presentazione Esame Architetture Dati</a:t>
            </a:r>
            <a:endParaRPr sz="3400" b="1" dirty="0"/>
          </a:p>
          <a:p>
            <a:pPr lvl="0">
              <a:buSzPts val="990"/>
            </a:pPr>
            <a:r>
              <a:rPr lang="it-IT" sz="4800" b="1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Dataset Degradation</a:t>
            </a:r>
            <a:endParaRPr sz="3200" b="1" dirty="0">
              <a:solidFill>
                <a:schemeClr val="tx1"/>
              </a:solidFill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3822950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it" sz="1310"/>
              <a:t>Simone Rancati 900052</a:t>
            </a:r>
            <a:endParaRPr sz="1310"/>
          </a:p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it" sz="1310"/>
              <a:t>Michele Piovanelli 894433</a:t>
            </a:r>
            <a:endParaRPr sz="1310"/>
          </a:p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it" sz="1310"/>
              <a:t>Lorenzo Pina 894396</a:t>
            </a:r>
            <a:endParaRPr sz="1310"/>
          </a:p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endParaRPr sz="131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10D9D-D733-CDA8-3021-54E21ABEC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60;p14">
            <a:extLst>
              <a:ext uri="{FF2B5EF4-FFF2-40B4-BE49-F238E27FC236}">
                <a16:creationId xmlns:a16="http://schemas.microsoft.com/office/drawing/2014/main" id="{E20E4C23-27FB-2263-B636-AF706A03E522}"/>
              </a:ext>
            </a:extLst>
          </p:cNvPr>
          <p:cNvSpPr txBox="1">
            <a:spLocks/>
          </p:cNvSpPr>
          <p:nvPr/>
        </p:nvSpPr>
        <p:spPr>
          <a:xfrm>
            <a:off x="311700" y="3070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lang="it-IT" sz="2820" dirty="0"/>
              <a:t>Obiettivo</a:t>
            </a:r>
          </a:p>
        </p:txBody>
      </p:sp>
      <p:sp>
        <p:nvSpPr>
          <p:cNvPr id="11" name="Google Shape;117;p20">
            <a:extLst>
              <a:ext uri="{FF2B5EF4-FFF2-40B4-BE49-F238E27FC236}">
                <a16:creationId xmlns:a16="http://schemas.microsoft.com/office/drawing/2014/main" id="{26F014C4-12BB-CA3C-E48A-DF101E8290EC}"/>
              </a:ext>
            </a:extLst>
          </p:cNvPr>
          <p:cNvSpPr txBox="1">
            <a:spLocks/>
          </p:cNvSpPr>
          <p:nvPr/>
        </p:nvSpPr>
        <p:spPr>
          <a:xfrm>
            <a:off x="311700" y="988105"/>
            <a:ext cx="8472900" cy="28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 typeface="Arial"/>
              <a:buNone/>
            </a:pPr>
            <a:r>
              <a:rPr lang="it-IT" dirty="0"/>
              <a:t>Questo progetto punta a:</a:t>
            </a:r>
          </a:p>
          <a:p>
            <a:pPr marL="342900">
              <a:buFont typeface="+mj-lt"/>
              <a:buAutoNum type="arabicPeriod"/>
            </a:pPr>
            <a:r>
              <a:rPr lang="it-IT" dirty="0"/>
              <a:t>Analizzare il Dataset per la diagnosi del carcinoma mammario Wisconsin </a:t>
            </a:r>
            <a:r>
              <a:rPr lang="it-IT" dirty="0" err="1"/>
              <a:t>Breast</a:t>
            </a:r>
            <a:r>
              <a:rPr lang="it-IT" dirty="0"/>
              <a:t> Cancer Dataset;</a:t>
            </a:r>
          </a:p>
          <a:p>
            <a:pPr marL="342900">
              <a:buFont typeface="+mj-lt"/>
              <a:buAutoNum type="arabicPeriod"/>
            </a:pPr>
            <a:r>
              <a:rPr lang="it-IT" dirty="0"/>
              <a:t>Introdurre del Data </a:t>
            </a:r>
            <a:r>
              <a:rPr lang="it-IT" dirty="0" err="1"/>
              <a:t>Poisoning</a:t>
            </a:r>
            <a:r>
              <a:rPr lang="it-IT" dirty="0"/>
              <a:t> all’interno del Dataset;</a:t>
            </a:r>
          </a:p>
          <a:p>
            <a:pPr marL="342900">
              <a:buFont typeface="+mj-lt"/>
              <a:buAutoNum type="arabicPeriod"/>
            </a:pPr>
            <a:r>
              <a:rPr lang="it-IT" dirty="0"/>
              <a:t>Addestrare 3 modelli differenti con vari livelli di corruzione del Dataset;</a:t>
            </a:r>
          </a:p>
          <a:p>
            <a:pPr marL="342900">
              <a:buFont typeface="+mj-lt"/>
              <a:buAutoNum type="arabicPeriod"/>
            </a:pPr>
            <a:r>
              <a:rPr lang="it-IT" dirty="0"/>
              <a:t>Osservare come i modelli si comportano al variare della corruzione.</a:t>
            </a:r>
          </a:p>
          <a:p>
            <a:pPr marL="114300" indent="0">
              <a:buNone/>
            </a:pPr>
            <a:endParaRPr lang="it-IT" dirty="0"/>
          </a:p>
          <a:p>
            <a:pPr marL="0" indent="0">
              <a:buFont typeface="Arial"/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5117870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3070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" sz="2820" dirty="0"/>
              <a:t>Informazioni sul dataset</a:t>
            </a:r>
            <a:endParaRPr sz="2820" dirty="0"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986400"/>
            <a:ext cx="5228700" cy="126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it" dirty="0"/>
              <a:t>Wisconsin Breast Cancer Dataset, di dimensione ridotta, presenta features derivate da osservazioni di masse tumorali, con la rispettiva diagnosi associata.</a:t>
            </a:r>
            <a:endParaRPr dirty="0"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6000" y="2513618"/>
            <a:ext cx="2606149" cy="2348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323642B5-931D-8A1A-71DF-855785989F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4691" y="373486"/>
            <a:ext cx="2670437" cy="439652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044F01C7-7539-D6AD-D54F-37C2CAE40FC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8275" y="489933"/>
            <a:ext cx="2075111" cy="34164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311700" y="3054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" sz="2820" dirty="0"/>
              <a:t>Data engineering</a:t>
            </a:r>
            <a:endParaRPr sz="2820" dirty="0"/>
          </a:p>
        </p:txBody>
      </p:sp>
      <p:sp>
        <p:nvSpPr>
          <p:cNvPr id="75" name="Google Shape;75;p16"/>
          <p:cNvSpPr txBox="1">
            <a:spLocks noGrp="1"/>
          </p:cNvSpPr>
          <p:nvPr>
            <p:ph type="body" idx="1"/>
          </p:nvPr>
        </p:nvSpPr>
        <p:spPr>
          <a:xfrm>
            <a:off x="313200" y="987750"/>
            <a:ext cx="5291733" cy="15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dirty="0"/>
              <a:t>La colonna “id” è stata rimossa data l’unicità dei valori.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it" dirty="0"/>
              <a:t>La colonna “diagnosis” è stata trasformata in numerica (1 = maligno, 0 = benigno).</a:t>
            </a:r>
            <a:endParaRPr dirty="0"/>
          </a:p>
        </p:txBody>
      </p:sp>
      <p:pic>
        <p:nvPicPr>
          <p:cNvPr id="78" name="Google Shape;7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63271" y="1275150"/>
            <a:ext cx="2260231" cy="34164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79" name="Google Shape;79;p16"/>
          <p:cNvSpPr/>
          <p:nvPr/>
        </p:nvSpPr>
        <p:spPr>
          <a:xfrm rot="10800000" flipH="1">
            <a:off x="6098533" y="4104858"/>
            <a:ext cx="544200" cy="490500"/>
          </a:xfrm>
          <a:prstGeom prst="bentArrow">
            <a:avLst>
              <a:gd name="adj1" fmla="val 25000"/>
              <a:gd name="adj2" fmla="val 28912"/>
              <a:gd name="adj3" fmla="val 34393"/>
              <a:gd name="adj4" fmla="val 43756"/>
            </a:avLst>
          </a:prstGeom>
          <a:solidFill>
            <a:srgbClr val="FF0000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58D6C08E-96C2-F226-BB17-A1DB4F21B9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482" y="2644459"/>
            <a:ext cx="4915586" cy="285790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1131C527-A2C1-477E-F251-1592F9D5A3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34" y="3757672"/>
            <a:ext cx="5638754" cy="7961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B4C8A8C6-3AC5-FBB4-00B2-7C689545BB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492" y="969234"/>
            <a:ext cx="6757767" cy="4010707"/>
          </a:xfrm>
          <a:prstGeom prst="rect">
            <a:avLst/>
          </a:prstGeom>
        </p:spPr>
      </p:pic>
      <p:sp>
        <p:nvSpPr>
          <p:cNvPr id="3" name="Google Shape;74;p16">
            <a:extLst>
              <a:ext uri="{FF2B5EF4-FFF2-40B4-BE49-F238E27FC236}">
                <a16:creationId xmlns:a16="http://schemas.microsoft.com/office/drawing/2014/main" id="{2B61415C-299F-B62D-92F2-46A2BE016245}"/>
              </a:ext>
            </a:extLst>
          </p:cNvPr>
          <p:cNvSpPr txBox="1">
            <a:spLocks/>
          </p:cNvSpPr>
          <p:nvPr/>
        </p:nvSpPr>
        <p:spPr>
          <a:xfrm>
            <a:off x="311700" y="3054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lang="it-IT" sz="2820" dirty="0"/>
              <a:t>Importanza Feature</a:t>
            </a:r>
          </a:p>
        </p:txBody>
      </p:sp>
    </p:spTree>
    <p:extLst>
      <p:ext uri="{BB962C8B-B14F-4D97-AF65-F5344CB8AC3E}">
        <p14:creationId xmlns:p14="http://schemas.microsoft.com/office/powerpoint/2010/main" val="39265165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4;p16">
            <a:extLst>
              <a:ext uri="{FF2B5EF4-FFF2-40B4-BE49-F238E27FC236}">
                <a16:creationId xmlns:a16="http://schemas.microsoft.com/office/drawing/2014/main" id="{89CC2956-B464-3007-BA03-77F9F82AAF01}"/>
              </a:ext>
            </a:extLst>
          </p:cNvPr>
          <p:cNvSpPr txBox="1">
            <a:spLocks/>
          </p:cNvSpPr>
          <p:nvPr/>
        </p:nvSpPr>
        <p:spPr>
          <a:xfrm>
            <a:off x="311700" y="3054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lang="it-IT" sz="2820" dirty="0"/>
              <a:t>Rumori analizzati</a:t>
            </a:r>
          </a:p>
        </p:txBody>
      </p:sp>
      <p:sp>
        <p:nvSpPr>
          <p:cNvPr id="7" name="Google Shape;117;p20">
            <a:extLst>
              <a:ext uri="{FF2B5EF4-FFF2-40B4-BE49-F238E27FC236}">
                <a16:creationId xmlns:a16="http://schemas.microsoft.com/office/drawing/2014/main" id="{F040A8B3-52A0-BE1C-24E6-846B4E1CC885}"/>
              </a:ext>
            </a:extLst>
          </p:cNvPr>
          <p:cNvSpPr txBox="1">
            <a:spLocks/>
          </p:cNvSpPr>
          <p:nvPr/>
        </p:nvSpPr>
        <p:spPr>
          <a:xfrm>
            <a:off x="311700" y="988105"/>
            <a:ext cx="8472900" cy="3617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it-IT" dirty="0"/>
              <a:t>Label </a:t>
            </a:r>
            <a:r>
              <a:rPr lang="it-IT" dirty="0" err="1"/>
              <a:t>Flipping</a:t>
            </a:r>
            <a:endParaRPr lang="it-IT" dirty="0"/>
          </a:p>
          <a:p>
            <a:r>
              <a:rPr lang="it-IT" dirty="0"/>
              <a:t>Gaussian </a:t>
            </a:r>
            <a:r>
              <a:rPr lang="it-IT" dirty="0" err="1"/>
              <a:t>Noise</a:t>
            </a:r>
            <a:endParaRPr lang="it-IT" dirty="0"/>
          </a:p>
          <a:p>
            <a:r>
              <a:rPr lang="it-IT" dirty="0" err="1"/>
              <a:t>Outlier</a:t>
            </a:r>
            <a:r>
              <a:rPr lang="it-IT" dirty="0"/>
              <a:t> Injection</a:t>
            </a:r>
          </a:p>
          <a:p>
            <a:r>
              <a:rPr lang="it-IT" dirty="0" err="1"/>
              <a:t>Missing</a:t>
            </a:r>
            <a:r>
              <a:rPr lang="it-IT" dirty="0"/>
              <a:t> Features</a:t>
            </a:r>
          </a:p>
          <a:p>
            <a:r>
              <a:rPr lang="it-IT" dirty="0"/>
              <a:t>Data Drift</a:t>
            </a:r>
          </a:p>
          <a:p>
            <a:r>
              <a:rPr lang="it-IT" dirty="0"/>
              <a:t>Random Feature Drop</a:t>
            </a:r>
          </a:p>
          <a:p>
            <a:r>
              <a:rPr lang="it-IT" dirty="0"/>
              <a:t>Top-K Drop</a:t>
            </a:r>
          </a:p>
          <a:p>
            <a:r>
              <a:rPr lang="it-IT" dirty="0" err="1"/>
              <a:t>Duplicates</a:t>
            </a:r>
            <a:endParaRPr lang="it-IT" dirty="0"/>
          </a:p>
          <a:p>
            <a:endParaRPr lang="it-IT" dirty="0"/>
          </a:p>
          <a:p>
            <a:pPr marL="114300" indent="0">
              <a:buNone/>
            </a:pPr>
            <a:r>
              <a:rPr lang="it-IT" dirty="0"/>
              <a:t>Implementati tramite libreria Pucktrick.</a:t>
            </a:r>
          </a:p>
        </p:txBody>
      </p:sp>
    </p:spTree>
    <p:extLst>
      <p:ext uri="{BB962C8B-B14F-4D97-AF65-F5344CB8AC3E}">
        <p14:creationId xmlns:p14="http://schemas.microsoft.com/office/powerpoint/2010/main" val="27518500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 txBox="1">
            <a:spLocks noGrp="1"/>
          </p:cNvSpPr>
          <p:nvPr>
            <p:ph type="title"/>
          </p:nvPr>
        </p:nvSpPr>
        <p:spPr>
          <a:xfrm>
            <a:off x="311700" y="3054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" sz="2820"/>
              <a:t>Selezione modelli</a:t>
            </a:r>
            <a:endParaRPr sz="2820"/>
          </a:p>
        </p:txBody>
      </p:sp>
      <p:sp>
        <p:nvSpPr>
          <p:cNvPr id="117" name="Google Shape;117;p20"/>
          <p:cNvSpPr txBox="1">
            <a:spLocks noGrp="1"/>
          </p:cNvSpPr>
          <p:nvPr>
            <p:ph type="body" idx="1"/>
          </p:nvPr>
        </p:nvSpPr>
        <p:spPr>
          <a:xfrm>
            <a:off x="311700" y="988105"/>
            <a:ext cx="8472900" cy="28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dirty="0"/>
              <a:t>Valutando tutti i modelli abbiamo scelto di utilizzare le Reti Neurali (MLP), le Support Vector Machines e la Random Forest.</a:t>
            </a:r>
            <a:endParaRPr lang="it-IT" dirty="0"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it-IT" dirty="0"/>
              <a:t>Le MLP e le Support </a:t>
            </a:r>
            <a:r>
              <a:rPr lang="it-IT" dirty="0" err="1"/>
              <a:t>Vector</a:t>
            </a:r>
            <a:r>
              <a:rPr lang="it-IT" dirty="0"/>
              <a:t> Machines riescono a gestire bene i valori numerici, particolarmente per la natura binaria del risultato.</a:t>
            </a:r>
          </a:p>
          <a:p>
            <a:pPr marL="0" lvl="0" indent="0" algn="l" rtl="0">
              <a:lnSpc>
                <a:spcPct val="100000"/>
              </a:lnSpc>
              <a:spcAft>
                <a:spcPts val="1200"/>
              </a:spcAft>
              <a:buNone/>
            </a:pPr>
            <a:r>
              <a:rPr lang="it-IT" dirty="0"/>
              <a:t>La Random Forest è stata scelta per la sua capacità di resistere al rumore.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1B988445-F19D-ED6D-D669-FB2CFC9C999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9902" y="3032515"/>
            <a:ext cx="7856496" cy="174333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>
            <a:spLocks noGrp="1"/>
          </p:cNvSpPr>
          <p:nvPr>
            <p:ph type="title"/>
          </p:nvPr>
        </p:nvSpPr>
        <p:spPr>
          <a:xfrm>
            <a:off x="311700" y="3054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" sz="2820"/>
              <a:t>Pipelines</a:t>
            </a:r>
            <a:endParaRPr sz="2820"/>
          </a:p>
        </p:txBody>
      </p:sp>
      <p:sp>
        <p:nvSpPr>
          <p:cNvPr id="3" name="Google Shape;117;p20">
            <a:extLst>
              <a:ext uri="{FF2B5EF4-FFF2-40B4-BE49-F238E27FC236}">
                <a16:creationId xmlns:a16="http://schemas.microsoft.com/office/drawing/2014/main" id="{2F69ABE4-AC3B-290C-C9E1-0ED2782F0664}"/>
              </a:ext>
            </a:extLst>
          </p:cNvPr>
          <p:cNvSpPr txBox="1">
            <a:spLocks/>
          </p:cNvSpPr>
          <p:nvPr/>
        </p:nvSpPr>
        <p:spPr>
          <a:xfrm>
            <a:off x="311700" y="988105"/>
            <a:ext cx="8472900" cy="3499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None/>
            </a:pPr>
            <a:r>
              <a:rPr lang="it-IT" dirty="0"/>
              <a:t>La pipeline sperimentale adottata introduce una struttura a tre livelli annidati rispetto alla baseline originale.</a:t>
            </a:r>
          </a:p>
          <a:p>
            <a:pPr>
              <a:buFont typeface="+mj-lt"/>
              <a:buAutoNum type="arabicPeriod"/>
            </a:pPr>
            <a:r>
              <a:rPr lang="it-IT" dirty="0"/>
              <a:t>Il primo livello riguarda la modalità di selezione delle feature (</a:t>
            </a:r>
            <a:r>
              <a:rPr lang="it-IT" dirty="0" err="1"/>
              <a:t>all</a:t>
            </a:r>
            <a:r>
              <a:rPr lang="it-IT" dirty="0"/>
              <a:t> features, best 3 features, </a:t>
            </a:r>
            <a:r>
              <a:rPr lang="it-IT" dirty="0" err="1"/>
              <a:t>worst</a:t>
            </a:r>
            <a:r>
              <a:rPr lang="it-IT" dirty="0"/>
              <a:t> 3 features);</a:t>
            </a:r>
          </a:p>
          <a:p>
            <a:pPr>
              <a:buFont typeface="+mj-lt"/>
              <a:buAutoNum type="arabicPeriod"/>
            </a:pPr>
            <a:r>
              <a:rPr lang="it-IT" dirty="0"/>
              <a:t>Il secondo livello copre il tipo di corruzione;</a:t>
            </a:r>
          </a:p>
          <a:p>
            <a:pPr>
              <a:buFont typeface="+mj-lt"/>
              <a:buAutoNum type="arabicPeriod"/>
            </a:pPr>
            <a:r>
              <a:rPr lang="it-IT" dirty="0"/>
              <a:t>Il terzo livello definisce l'intensità di corruzione (19 livelli da 0.05 a 0.95 con step 0.05, più la baseline pulita a livello 0);</a:t>
            </a:r>
          </a:p>
          <a:p>
            <a:pPr>
              <a:buFont typeface="+mj-lt"/>
              <a:buAutoNum type="arabicPeriod"/>
            </a:pPr>
            <a:r>
              <a:rPr lang="it-IT" dirty="0"/>
              <a:t>Ogni casistica iterata 20 volte per stabilità.</a:t>
            </a:r>
          </a:p>
          <a:p>
            <a:pPr>
              <a:buFont typeface="+mj-lt"/>
              <a:buAutoNum type="arabicPeriod"/>
            </a:pPr>
            <a:endParaRPr lang="it-IT" dirty="0"/>
          </a:p>
          <a:p>
            <a:pPr marL="114300" indent="0">
              <a:buNone/>
            </a:pPr>
            <a:r>
              <a:rPr lang="it-IT" dirty="0"/>
              <a:t>TOTALE: 3 × 8 × 20 × 3 × 20 = 28.800 addestramenti.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2614CA58-3557-3635-D9EC-B28084063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3">
            <a:extLst>
              <a:ext uri="{FF2B5EF4-FFF2-40B4-BE49-F238E27FC236}">
                <a16:creationId xmlns:a16="http://schemas.microsoft.com/office/drawing/2014/main" id="{FF3ABDFB-B8F7-70A7-CB06-98278B3BFB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3054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-IT" sz="2820" dirty="0"/>
              <a:t>Risultati Worst e Best 3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60FADFA7-D1F7-357B-1745-9401D300A4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0467" y="1476018"/>
            <a:ext cx="4332702" cy="2888198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F70CBBF7-E1FA-3686-1C4D-BE4B95B998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161" y="1476018"/>
            <a:ext cx="4332701" cy="2888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1619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3"/>
          <p:cNvSpPr txBox="1">
            <a:spLocks noGrp="1"/>
          </p:cNvSpPr>
          <p:nvPr>
            <p:ph type="title"/>
          </p:nvPr>
        </p:nvSpPr>
        <p:spPr>
          <a:xfrm>
            <a:off x="311700" y="3054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" sz="2820" dirty="0"/>
              <a:t>Risultati rumori numerici</a:t>
            </a:r>
            <a:endParaRPr sz="2820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36AA09E3-C79B-1923-D88D-EED4D0513A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82305" y="89598"/>
            <a:ext cx="4136919" cy="2482151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BD3CCD61-084F-1D06-6E1C-4DB6065624F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16544" y="1491836"/>
            <a:ext cx="4136918" cy="2482151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B78EB33E-DE68-A744-9757-02E13104C67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682303" y="2590691"/>
            <a:ext cx="4136918" cy="248215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2B557D00-15B8-3ED3-8521-48714A58C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3">
            <a:extLst>
              <a:ext uri="{FF2B5EF4-FFF2-40B4-BE49-F238E27FC236}">
                <a16:creationId xmlns:a16="http://schemas.microsoft.com/office/drawing/2014/main" id="{1E6CEE0E-B8C2-382A-2ADF-B2D83F7877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3054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" sz="2820" dirty="0"/>
              <a:t>Risultati Missing e Duplicati</a:t>
            </a:r>
            <a:endParaRPr sz="2820" dirty="0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272A3C73-496A-F947-C25D-C95869B595E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88934" y="1584000"/>
            <a:ext cx="4399200" cy="2639520"/>
          </a:xfrm>
          <a:prstGeom prst="rect">
            <a:avLst/>
          </a:prstGeom>
        </p:spPr>
      </p:pic>
      <p:pic>
        <p:nvPicPr>
          <p:cNvPr id="18" name="Immagine 17">
            <a:extLst>
              <a:ext uri="{FF2B5EF4-FFF2-40B4-BE49-F238E27FC236}">
                <a16:creationId xmlns:a16="http://schemas.microsoft.com/office/drawing/2014/main" id="{61B632F2-A9AD-AEFF-8C23-7C55F5035FF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30465" y="1584000"/>
            <a:ext cx="4399200" cy="2639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3637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39707ED2-34F8-08DE-E251-70439DD26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3">
            <a:extLst>
              <a:ext uri="{FF2B5EF4-FFF2-40B4-BE49-F238E27FC236}">
                <a16:creationId xmlns:a16="http://schemas.microsoft.com/office/drawing/2014/main" id="{9FD34A14-AD46-54E4-F55F-F52A0A8745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3054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" sz="2820" dirty="0"/>
              <a:t>Risultati Drop Feature</a:t>
            </a:r>
            <a:endParaRPr sz="2820" dirty="0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987C681-741D-436A-9D05-EC2D932E5D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88934" y="1584000"/>
            <a:ext cx="4399943" cy="2639966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9B18968F-E89E-7AD8-242D-3E6E839E77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29722" y="1584000"/>
            <a:ext cx="4399943" cy="2639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6900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A6C5C964-90A1-E971-A5C1-FD24B89D5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3">
            <a:extLst>
              <a:ext uri="{FF2B5EF4-FFF2-40B4-BE49-F238E27FC236}">
                <a16:creationId xmlns:a16="http://schemas.microsoft.com/office/drawing/2014/main" id="{06FFF5BD-1980-60FE-156A-92C6A2E0E8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3054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" sz="2820" dirty="0"/>
              <a:t>Risultati Label Flipping</a:t>
            </a:r>
            <a:endParaRPr sz="2820" dirty="0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92B6ABE8-8776-A635-4A58-C323716789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02418" y="954000"/>
            <a:ext cx="6739163" cy="4043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8285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5267C78-FA1E-B069-4E93-1A8411DF1C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Random Forest è più resistente a interferenze</a:t>
            </a:r>
          </a:p>
          <a:p>
            <a:r>
              <a:rPr lang="it-IT" dirty="0"/>
              <a:t>La Rete Neurale (MLP) è più prona a degradazione</a:t>
            </a:r>
          </a:p>
          <a:p>
            <a:r>
              <a:rPr lang="it-IT" dirty="0"/>
              <a:t>Label </a:t>
            </a:r>
            <a:r>
              <a:rPr lang="it-IT" dirty="0" err="1"/>
              <a:t>Flipping</a:t>
            </a:r>
            <a:r>
              <a:rPr lang="it-IT" dirty="0"/>
              <a:t> crea problemi ovunque</a:t>
            </a:r>
          </a:p>
          <a:p>
            <a:r>
              <a:rPr lang="it-IT" dirty="0" err="1"/>
              <a:t>Duplicates</a:t>
            </a:r>
            <a:r>
              <a:rPr lang="it-IT" dirty="0"/>
              <a:t> aiuta i modelli andando a migliorare leggermente</a:t>
            </a:r>
          </a:p>
          <a:p>
            <a:r>
              <a:rPr lang="it-IT" dirty="0"/>
              <a:t>Le Top Feature non sono essenziali se non per MLP</a:t>
            </a:r>
          </a:p>
        </p:txBody>
      </p:sp>
      <p:sp>
        <p:nvSpPr>
          <p:cNvPr id="6" name="Google Shape;140;p23">
            <a:extLst>
              <a:ext uri="{FF2B5EF4-FFF2-40B4-BE49-F238E27FC236}">
                <a16:creationId xmlns:a16="http://schemas.microsoft.com/office/drawing/2014/main" id="{0A5990F2-23C6-C0FE-0AAF-B4AC0273AE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3054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" sz="2820" dirty="0"/>
              <a:t>Conclusioni</a:t>
            </a:r>
            <a:endParaRPr sz="2820" dirty="0"/>
          </a:p>
        </p:txBody>
      </p:sp>
    </p:spTree>
    <p:extLst>
      <p:ext uri="{BB962C8B-B14F-4D97-AF65-F5344CB8AC3E}">
        <p14:creationId xmlns:p14="http://schemas.microsoft.com/office/powerpoint/2010/main" val="35080483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>
            <a:spLocks noGrp="1"/>
          </p:cNvSpPr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" sz="2920" b="1"/>
              <a:t>Fine</a:t>
            </a:r>
            <a:endParaRPr sz="2920"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373</Words>
  <Application>Microsoft Macintosh PowerPoint</Application>
  <PresentationFormat>Presentazione su schermo (16:9)</PresentationFormat>
  <Paragraphs>52</Paragraphs>
  <Slides>15</Slides>
  <Notes>11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1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15</vt:i4>
      </vt:variant>
    </vt:vector>
  </HeadingPairs>
  <TitlesOfParts>
    <vt:vector size="17" baseType="lpstr">
      <vt:lpstr>Arial</vt:lpstr>
      <vt:lpstr>Simple Dark</vt:lpstr>
      <vt:lpstr>Presentazione Esame Architetture Dati Dataset Degradation</vt:lpstr>
      <vt:lpstr>Presentazione standard di PowerPoint</vt:lpstr>
      <vt:lpstr>Informazioni sul dataset</vt:lpstr>
      <vt:lpstr>Data engineering</vt:lpstr>
      <vt:lpstr>Presentazione standard di PowerPoint</vt:lpstr>
      <vt:lpstr>Presentazione standard di PowerPoint</vt:lpstr>
      <vt:lpstr>Selezione modelli</vt:lpstr>
      <vt:lpstr>Pipelines</vt:lpstr>
      <vt:lpstr>Risultati Worst e Best 3</vt:lpstr>
      <vt:lpstr>Risultati rumori numerici</vt:lpstr>
      <vt:lpstr>Risultati Missing e Duplicati</vt:lpstr>
      <vt:lpstr>Risultati Drop Feature</vt:lpstr>
      <vt:lpstr>Risultati Label Flipping</vt:lpstr>
      <vt:lpstr>Conclusioni</vt:lpstr>
      <vt:lpstr>Fine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Lorenzo</dc:creator>
  <cp:lastModifiedBy>Simone Rancati</cp:lastModifiedBy>
  <cp:revision>17</cp:revision>
  <dcterms:modified xsi:type="dcterms:W3CDTF">2026-06-17T13:58:59Z</dcterms:modified>
</cp:coreProperties>
</file>
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" name="Google Shape;4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" name="Google Shape;20;p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8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" name="Google Shape;35;p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6" name="Google Shape;36;p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LorenzoPinaUnimib/Dataset_Degradetion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it-IT" sz="3400"/>
              <a:t>Presentazione Esame Architetture Dati</a:t>
            </a:r>
            <a:endParaRPr b="1" sz="34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it-IT" sz="4800" u="sng">
                <a:solidFill>
                  <a:schemeClr val="hlink"/>
                </a:solidFill>
                <a:hlinkClick r:id="rId3"/>
              </a:rPr>
              <a:t>Dataset Degradation</a:t>
            </a:r>
            <a:endParaRPr b="1" sz="3200">
              <a:solidFill>
                <a:schemeClr val="dk1"/>
              </a:solidFill>
            </a:endParaRPr>
          </a:p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311700" y="382295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it-IT" sz="1310"/>
              <a:t>Simone Rancati 900052</a:t>
            </a:r>
            <a:endParaRPr sz="131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it-IT" sz="1310"/>
              <a:t>Michele Piovanelli 894433</a:t>
            </a:r>
            <a:endParaRPr sz="131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it-IT" sz="1310"/>
              <a:t>Lorenzo Pina 894396</a:t>
            </a:r>
            <a:endParaRPr sz="131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t/>
            </a:r>
            <a:endParaRPr sz="131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/>
          <p:nvPr/>
        </p:nvSpPr>
        <p:spPr>
          <a:xfrm>
            <a:off x="311700" y="381350"/>
            <a:ext cx="85206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b="0" i="0" lang="it-IT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Obiettivo</a:t>
            </a:r>
            <a:endParaRPr sz="4000"/>
          </a:p>
        </p:txBody>
      </p:sp>
      <p:sp>
        <p:nvSpPr>
          <p:cNvPr id="58" name="Google Shape;58;p13"/>
          <p:cNvSpPr txBox="1"/>
          <p:nvPr/>
        </p:nvSpPr>
        <p:spPr>
          <a:xfrm>
            <a:off x="311700" y="1557780"/>
            <a:ext cx="8472900" cy="28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Questo progetto punta a:</a:t>
            </a:r>
            <a:endParaRPr/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Analizzare il Dataset per la diagnosi del carcinoma mammario Wisconsin Breast Cancer Dataset;</a:t>
            </a:r>
            <a:endParaRPr/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Introdurre del Data Poisoning all’interno del Dataset;</a:t>
            </a:r>
            <a:endParaRPr/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Addestrare 3 modelli differenti con vari livelli di corruzione del Dataset;</a:t>
            </a:r>
            <a:endParaRPr/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Osservare come i modelli si comportano al variare della corruzione.</a:t>
            </a:r>
            <a:endParaRPr/>
          </a:p>
          <a:p>
            <a:pPr indent="0" lvl="0" marL="1143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311700" y="3070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Informazioni sul dataset</a:t>
            </a:r>
            <a:endParaRPr sz="2820"/>
          </a:p>
        </p:txBody>
      </p:sp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216450" y="1030300"/>
            <a:ext cx="5228700" cy="12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it-IT"/>
              <a:t>Wisconsin Breast Cancer Dataset, di dimensione ridotta, presenta features derivate da osservazioni di masse tumorali, con la rispettiva diagnosi associata.</a:t>
            </a:r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80150" y="2324056"/>
            <a:ext cx="2606149" cy="2348975"/>
          </a:xfrm>
          <a:prstGeom prst="rect">
            <a:avLst/>
          </a:prstGeom>
          <a:noFill/>
          <a:ln cap="flat" cmpd="sng" w="2857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0000" fadeDir="5400012" kx="0" rotWithShape="0" algn="bl" stA="15000" stPos="0" sy="-100000" ky="0"/>
          </a:effectLst>
        </p:spPr>
      </p:pic>
      <p:pic>
        <p:nvPicPr>
          <p:cNvPr id="66" name="Google Shape;6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01254" y="439486"/>
            <a:ext cx="2670437" cy="4396527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0000" fadeDir="5400012" kx="0" rotWithShape="0" algn="bl" stA="15000" stPos="0" sy="-100000" ky="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8275" y="489933"/>
            <a:ext cx="2075111" cy="3416401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0000" fadeDir="5400012" kx="0" rotWithShape="0" algn="bl" stA="15000" stPos="0" sy="-100000" ky="0"/>
          </a:effectLst>
        </p:spPr>
      </p:pic>
      <p:sp>
        <p:nvSpPr>
          <p:cNvPr id="72" name="Google Shape;72;p15"/>
          <p:cNvSpPr txBox="1"/>
          <p:nvPr>
            <p:ph type="title"/>
          </p:nvPr>
        </p:nvSpPr>
        <p:spPr>
          <a:xfrm>
            <a:off x="311700" y="305400"/>
            <a:ext cx="4260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Data engineering</a:t>
            </a:r>
            <a:endParaRPr sz="2820"/>
          </a:p>
        </p:txBody>
      </p:sp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267263" y="1119075"/>
            <a:ext cx="5291700" cy="15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colonna “id” è stata rimossa data l’unicità dei valori, “diagnosis” è stata trasformata in numerica (1</a:t>
            </a:r>
            <a:r>
              <a:rPr lang="it-IT"/>
              <a:t> </a:t>
            </a:r>
            <a:r>
              <a:rPr lang="it-IT"/>
              <a:t>=</a:t>
            </a:r>
            <a:r>
              <a:rPr lang="it-IT"/>
              <a:t> </a:t>
            </a:r>
            <a:r>
              <a:rPr lang="it-IT"/>
              <a:t>maligno, 0 = benigno) e la standardizzazione è stata effettuata post-corruzione. </a:t>
            </a:r>
            <a:endParaRPr/>
          </a:p>
        </p:txBody>
      </p:sp>
      <p:pic>
        <p:nvPicPr>
          <p:cNvPr id="74" name="Google Shape;7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63271" y="1275150"/>
            <a:ext cx="2260231" cy="3416400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0000" fadeDir="5400012" kx="0" rotWithShape="0" algn="bl" stA="15000" stPos="0" sy="-100000" ky="0"/>
          </a:effectLst>
        </p:spPr>
      </p:pic>
      <p:sp>
        <p:nvSpPr>
          <p:cNvPr id="75" name="Google Shape;75;p15"/>
          <p:cNvSpPr/>
          <p:nvPr/>
        </p:nvSpPr>
        <p:spPr>
          <a:xfrm flipH="1" rot="10800000">
            <a:off x="6098533" y="4104858"/>
            <a:ext cx="544200" cy="490500"/>
          </a:xfrm>
          <a:prstGeom prst="bentArrow">
            <a:avLst>
              <a:gd fmla="val 25000" name="adj1"/>
              <a:gd fmla="val 28912" name="adj2"/>
              <a:gd fmla="val 34393" name="adj3"/>
              <a:gd fmla="val 43756" name="adj4"/>
            </a:avLst>
          </a:prstGeom>
          <a:solidFill>
            <a:srgbClr val="FF0000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" name="Google Shape;7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6650" y="2944050"/>
            <a:ext cx="5392949" cy="416250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7" name="Google Shape;7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6650" y="3429350"/>
            <a:ext cx="5392953" cy="821625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20000" fadeDir="5400012" kx="0" rotWithShape="0" algn="bl" stA="15000" stPos="0" sy="-100000" ky="0"/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5075" y="1243750"/>
            <a:ext cx="5373201" cy="3188974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0000" fadeDir="5400012" kx="0" rotWithShape="0" algn="bl" stA="15000" stPos="0" sy="-100000" ky="0"/>
          </a:effectLst>
        </p:spPr>
      </p:pic>
      <p:sp>
        <p:nvSpPr>
          <p:cNvPr id="83" name="Google Shape;83;p16"/>
          <p:cNvSpPr txBox="1"/>
          <p:nvPr/>
        </p:nvSpPr>
        <p:spPr>
          <a:xfrm>
            <a:off x="311700" y="122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b="0" i="0" lang="it-IT" sz="282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Importanza Feature</a:t>
            </a:r>
            <a:endParaRPr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6051600" y="1683238"/>
            <a:ext cx="27807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Le features sono state classificate </a:t>
            </a:r>
            <a:r>
              <a:rPr lang="it-IT"/>
              <a:t>per importanza</a:t>
            </a:r>
            <a:r>
              <a:rPr lang="it-IT"/>
              <a:t> tramite Random Forest; questa classificazione è usata più avanti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/>
        </p:nvSpPr>
        <p:spPr>
          <a:xfrm>
            <a:off x="311700" y="305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it-IT" sz="2820">
                <a:solidFill>
                  <a:schemeClr val="dk1"/>
                </a:solidFill>
              </a:rPr>
              <a:t>Tecniche di degradazione considerate</a:t>
            </a:r>
            <a:endParaRPr/>
          </a:p>
        </p:txBody>
      </p:sp>
      <p:sp>
        <p:nvSpPr>
          <p:cNvPr id="90" name="Google Shape;90;p17"/>
          <p:cNvSpPr txBox="1"/>
          <p:nvPr/>
        </p:nvSpPr>
        <p:spPr>
          <a:xfrm>
            <a:off x="765975" y="1146150"/>
            <a:ext cx="3571500" cy="28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Label Flipping</a:t>
            </a:r>
            <a:endParaRPr b="0" i="0" sz="1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Gaussian Noise</a:t>
            </a:r>
            <a:endParaRPr b="0" i="0" sz="1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Outlier Injection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Missing Features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Data Drift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Random Feature Drop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Top-K Drop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Duplicates</a:t>
            </a:r>
            <a:endParaRPr/>
          </a:p>
        </p:txBody>
      </p:sp>
      <p:sp>
        <p:nvSpPr>
          <p:cNvPr id="91" name="Google Shape;91;p17"/>
          <p:cNvSpPr txBox="1"/>
          <p:nvPr/>
        </p:nvSpPr>
        <p:spPr>
          <a:xfrm>
            <a:off x="4725850" y="1581300"/>
            <a:ext cx="3363000" cy="18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lt2"/>
                </a:solidFill>
              </a:rPr>
              <a:t>E’ stata fatta una scelta di  quanto più a tutto tondo possibile, compatibilmente alle implementazioni fornite dalla libreria PuckTrick.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Selezione modelli</a:t>
            </a:r>
            <a:endParaRPr sz="2820"/>
          </a:p>
        </p:txBody>
      </p:sp>
      <p:sp>
        <p:nvSpPr>
          <p:cNvPr id="97" name="Google Shape;97;p18"/>
          <p:cNvSpPr txBox="1"/>
          <p:nvPr>
            <p:ph idx="1" type="body"/>
          </p:nvPr>
        </p:nvSpPr>
        <p:spPr>
          <a:xfrm>
            <a:off x="311700" y="988100"/>
            <a:ext cx="8472900" cy="164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it-IT"/>
              <a:t>Valutando tutti i modelli abbiamo scelto di utilizzare </a:t>
            </a:r>
            <a:r>
              <a:rPr lang="it-IT"/>
              <a:t>le Reti Neurali (MLP)</a:t>
            </a:r>
            <a:r>
              <a:rPr lang="it-IT"/>
              <a:t>, le Support Vector Machines e la Random Forest: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t-IT"/>
              <a:t>Support Vector Machine (kernel lineare) rappresenta un modello semplice,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t-IT"/>
              <a:t>Random Forest copre il ruolo di modello resistente al rumore,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t-IT"/>
              <a:t>MLP rappresenta un modello capace ma suscettibile al rumore</a:t>
            </a:r>
            <a:endParaRPr/>
          </a:p>
        </p:txBody>
      </p:sp>
      <p:pic>
        <p:nvPicPr>
          <p:cNvPr id="98" name="Google Shape;9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4838" y="2806200"/>
            <a:ext cx="7986626" cy="1769800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5000" fadeDir="5400012" kx="0" rotWithShape="0" algn="bl" stA="15000" stPos="0" sy="-100000" ky="0"/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/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Pipelines</a:t>
            </a:r>
            <a:endParaRPr sz="2820"/>
          </a:p>
        </p:txBody>
      </p:sp>
      <p:sp>
        <p:nvSpPr>
          <p:cNvPr id="104" name="Google Shape;104;p19"/>
          <p:cNvSpPr txBox="1"/>
          <p:nvPr/>
        </p:nvSpPr>
        <p:spPr>
          <a:xfrm>
            <a:off x="311700" y="988105"/>
            <a:ext cx="8472900" cy="34992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1143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La pipeline sperimentale adottata introduce una struttura a tre livelli annidati rispetto alla baseline originale</a:t>
            </a:r>
            <a:r>
              <a:rPr lang="it-IT" sz="1800">
                <a:solidFill>
                  <a:schemeClr val="lt2"/>
                </a:solidFill>
              </a:rPr>
              <a:t>: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Il primo livello riguarda la modalità di selezione delle feature (all features, best 3, worst </a:t>
            </a:r>
            <a:r>
              <a:rPr lang="it-IT" sz="1800">
                <a:solidFill>
                  <a:schemeClr val="lt2"/>
                </a:solidFill>
              </a:rPr>
              <a:t>3</a:t>
            </a: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);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Il secondo livello copre il tipo di corruzione;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Il terzo livello definisce l'intensità di corruzione (19 livelli da 0.05 a 0.95 con step 0.05, più la baseline pulita a livello 0);</a:t>
            </a:r>
            <a:endParaRPr/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Ogni casistica iterata 20 volte per stabilità.</a:t>
            </a:r>
            <a:endParaRPr/>
          </a:p>
          <a:p>
            <a: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</a:pPr>
            <a:r>
              <a:rPr b="0" i="0" lang="it-IT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TOTALE: 3 × 8 × 20 × 3 × 20 = 28.800 addestramenti.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275050" y="1955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Risultati “Worst 3” e “Best 3”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76449" y="845926"/>
            <a:ext cx="4919198" cy="3279151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5000" fadeDir="5400012" kx="0" rotWithShape="0" algn="bl" stA="15000" stPos="0" sy="-100000" ky="0"/>
          </a:effectLst>
        </p:spPr>
      </p:pic>
      <p:pic>
        <p:nvPicPr>
          <p:cNvPr id="111" name="Google Shape;11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8600" y="1736475"/>
            <a:ext cx="4557450" cy="3038024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5000" fadeDir="5400012" kx="0" rotWithShape="0" algn="bl" stA="15000" stPos="0" sy="-100000" ky="0"/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1"/>
          <p:cNvSpPr txBox="1"/>
          <p:nvPr>
            <p:ph type="title"/>
          </p:nvPr>
        </p:nvSpPr>
        <p:spPr>
          <a:xfrm>
            <a:off x="568550" y="283400"/>
            <a:ext cx="3695700" cy="11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Risultati su variazioni numeriche</a:t>
            </a:r>
            <a:endParaRPr sz="2820"/>
          </a:p>
        </p:txBody>
      </p:sp>
      <p:pic>
        <p:nvPicPr>
          <p:cNvPr id="117" name="Google Shape;11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77580" y="148223"/>
            <a:ext cx="4136918" cy="2482151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5000" fadeDir="5400012" kx="0" rotWithShape="0" algn="bl" stA="15000" stPos="0" sy="-100000" ky="0"/>
          </a:effectLst>
        </p:spPr>
      </p:pic>
      <p:pic>
        <p:nvPicPr>
          <p:cNvPr id="118" name="Google Shape;11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6553" y="1616191"/>
            <a:ext cx="4136918" cy="2482151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5000" fadeDir="5400012" kx="0" rotWithShape="0" algn="bl" stA="15000" stPos="0" sy="-100000" ky="0"/>
          </a:effectLst>
        </p:spPr>
      </p:pic>
      <p:pic>
        <p:nvPicPr>
          <p:cNvPr id="119" name="Google Shape;119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28156" y="2410561"/>
            <a:ext cx="4136918" cy="2482151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5000" fadeDir="5400012" kx="0" rotWithShape="0" algn="bl" stA="15000" stPos="0" sy="-100000" ky="0"/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254725" y="437275"/>
            <a:ext cx="4502100" cy="11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920"/>
              <a:t>Risultati su missing features e duplicati</a:t>
            </a:r>
            <a:endParaRPr sz="2920"/>
          </a:p>
        </p:txBody>
      </p:sp>
      <p:pic>
        <p:nvPicPr>
          <p:cNvPr id="125" name="Google Shape;12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17859" y="1034500"/>
            <a:ext cx="4399200" cy="2639520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5000" fadeDir="5400012" kx="0" rotWithShape="0" algn="bl" stA="15000" stPos="0" sy="-100000" ky="0"/>
          </a:effectLst>
        </p:spPr>
      </p:pic>
      <p:pic>
        <p:nvPicPr>
          <p:cNvPr id="126" name="Google Shape;12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7615" y="2089550"/>
            <a:ext cx="4399200" cy="2639520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5000" fadeDir="5400012" kx="0" rotWithShape="0" algn="bl" stA="15000" stPos="0" sy="-100000" ky="0"/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3"/>
          <p:cNvSpPr txBox="1"/>
          <p:nvPr>
            <p:ph type="title"/>
          </p:nvPr>
        </p:nvSpPr>
        <p:spPr>
          <a:xfrm>
            <a:off x="311700" y="2614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Risultati su rimozione di features</a:t>
            </a:r>
            <a:endParaRPr sz="2820"/>
          </a:p>
        </p:txBody>
      </p:sp>
      <p:pic>
        <p:nvPicPr>
          <p:cNvPr id="132" name="Google Shape;13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5322" y="1144400"/>
            <a:ext cx="4399943" cy="2639966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5000" fadeDir="5400012" kx="0" rotWithShape="0" algn="bl" stA="15000" stPos="0" sy="-100000" ky="0"/>
          </a:effectLst>
        </p:spPr>
      </p:pic>
      <p:pic>
        <p:nvPicPr>
          <p:cNvPr id="133" name="Google Shape;133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6359" y="2287400"/>
            <a:ext cx="4399943" cy="2639966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5000" fadeDir="5400012" kx="0" rotWithShape="0" algn="bl" stA="15000" stPos="0" sy="-100000" ky="0"/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311700" y="1735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Risultati Label Flipping</a:t>
            </a:r>
            <a:endParaRPr sz="2820"/>
          </a:p>
        </p:txBody>
      </p:sp>
      <p:pic>
        <p:nvPicPr>
          <p:cNvPr id="139" name="Google Shape;13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44900" y="978425"/>
            <a:ext cx="6454200" cy="3872524"/>
          </a:xfrm>
          <a:prstGeom prst="rect">
            <a:avLst/>
          </a:prstGeom>
          <a:noFill/>
          <a:ln cap="flat" cmpd="sng" w="28575">
            <a:solidFill>
              <a:srgbClr val="464646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38100" endA="0" endPos="10000" fadeDir="5400012" kx="0" rotWithShape="0" algn="bl" stA="15000" stPos="0" sy="-100000" ky="0"/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1297950"/>
            <a:ext cx="8520600" cy="25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/>
              <a:t>Random Forest, consistentemente con la teoria, è costantemente più resistente a interferenze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/>
              <a:t>La Rete Neurale (MLP) è più prona a degradazione, per via della struttura elementare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/>
              <a:t>Label Flipping crea problemi indipendentemente dal modello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/>
              <a:t>Duplicates aiuta i modelli andando a migliorare leggermente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/>
              <a:t>Le Top Feature non sono essenziali se non per MLP</a:t>
            </a:r>
            <a:endParaRPr/>
          </a:p>
        </p:txBody>
      </p:sp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/>
              <a:t>Conclusioni</a:t>
            </a:r>
            <a:endParaRPr sz="282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6"/>
          <p:cNvSpPr txBox="1"/>
          <p:nvPr>
            <p:ph type="title"/>
          </p:nvPr>
        </p:nvSpPr>
        <p:spPr>
          <a:xfrm>
            <a:off x="311700" y="2285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it-IT" sz="2920"/>
              <a:t>Fine</a:t>
            </a:r>
            <a:endParaRPr b="1" sz="292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
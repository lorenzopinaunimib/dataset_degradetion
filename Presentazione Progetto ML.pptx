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54deed3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54deed3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6c970f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6c970f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54deed3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54deed3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654deed3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654deed3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54deed3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54deed3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654deed3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654deed3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54deed3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54deed3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654deed3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654deed3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654deed3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654deed3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654deed3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654deed3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654deed3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654deed3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5" Type="http://schemas.openxmlformats.org/officeDocument/2006/relationships/image" Target="../media/image26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400"/>
              <a:t>Presentazione</a:t>
            </a:r>
            <a:r>
              <a:rPr b="1" lang="it" sz="3400"/>
              <a:t> Esame Machine Learning </a:t>
            </a:r>
            <a:endParaRPr b="1"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400"/>
              <a:t>Neural Network + SVM</a:t>
            </a:r>
            <a:endParaRPr b="1"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3400"/>
              <a:t>Wisconsin Breast Cancer Dataset</a:t>
            </a:r>
            <a:endParaRPr b="1" sz="3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8229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310"/>
              <a:t>Simone Rancati 900052</a:t>
            </a:r>
            <a:endParaRPr sz="131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310"/>
              <a:t>Michele Piovanelli 894433</a:t>
            </a:r>
            <a:endParaRPr sz="131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310"/>
              <a:t>Lorenzo Pina 894396</a:t>
            </a:r>
            <a:endParaRPr sz="131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31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307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Informazioni sul dataset</a:t>
            </a:r>
            <a:endParaRPr sz="28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95000"/>
            <a:ext cx="5228700" cy="12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Wisconsin</a:t>
            </a:r>
            <a:r>
              <a:rPr lang="it"/>
              <a:t> Breast Cancer Dataset, di dimensione ridotta, presenta features derivate da </a:t>
            </a:r>
            <a:r>
              <a:rPr lang="it"/>
              <a:t>osservazioni </a:t>
            </a:r>
            <a:r>
              <a:rPr lang="it"/>
              <a:t>di masse tumorali, con la rispettiva diagnosi associata.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500" y="456075"/>
            <a:ext cx="2570050" cy="423132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6000" y="2479750"/>
            <a:ext cx="2606149" cy="234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06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Assunzioni ed ipotesi sul dataset</a:t>
            </a:r>
            <a:endParaRPr sz="282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657050"/>
            <a:ext cx="8520600" cy="25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Questo progetto assume alcune alcune caratteristiche dei dati, quali la qualità e rilevanza delle misurazioni presenti nel dataset, così come l’affidabilità dei metodi utilizzati per lavorare sui dati stessi nel non introdurre bias.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Vengono inoltre effettuate delle ipotesi riguardo all’esistenza di una funzione di decisione ottimale per questi dati, la presenza di features correlate tra di loro e presenza di pattern nei dati sufficientemente complessi da giustificare modelli di analisi non lineari.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Data engineering</a:t>
            </a:r>
            <a:endParaRPr sz="282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3200" y="987750"/>
            <a:ext cx="5471700" cy="15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colonne “id” e “Unnamed: 32” presentano dati non utili o nulli e sono state rimosse.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La colonna “diagnosis” è stata trasformata in numerica.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00" y="2882861"/>
            <a:ext cx="5471700" cy="572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3026" y="576125"/>
            <a:ext cx="2075074" cy="3416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3271" y="1275150"/>
            <a:ext cx="2260231" cy="3416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" name="Google Shape;79;p16"/>
          <p:cNvSpPr/>
          <p:nvPr/>
        </p:nvSpPr>
        <p:spPr>
          <a:xfrm flipH="1" rot="10800000">
            <a:off x="6098533" y="4104858"/>
            <a:ext cx="544200" cy="490500"/>
          </a:xfrm>
          <a:prstGeom prst="bentArrow">
            <a:avLst>
              <a:gd fmla="val 25000" name="adj1"/>
              <a:gd fmla="val 28912" name="adj2"/>
              <a:gd fmla="val 34393" name="adj3"/>
              <a:gd fmla="val 43756" name="adj4"/>
            </a:avLst>
          </a:prstGeom>
          <a:solidFill>
            <a:srgbClr val="FF00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4350" y="3869179"/>
            <a:ext cx="3959811" cy="572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Pipelines</a:t>
            </a:r>
            <a:endParaRPr sz="2820"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986400"/>
            <a:ext cx="3551700" cy="25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Per via della dimensione ridotta del dataset abbiamo effettuato l’addestramento e il test su 30 split diversi, sia sul dataset intero che sul risultato della PCA, che su un set di features scelte a mano.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4325" y="553525"/>
            <a:ext cx="4803650" cy="269902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1285" y="4191528"/>
            <a:ext cx="4479725" cy="254275"/>
          </a:xfrm>
          <a:prstGeom prst="rect">
            <a:avLst/>
          </a:prstGeom>
          <a:noFill/>
          <a:ln cap="flat" cmpd="sng" w="19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9025" y="3907230"/>
            <a:ext cx="4479725" cy="284305"/>
          </a:xfrm>
          <a:prstGeom prst="rect">
            <a:avLst/>
          </a:prstGeom>
          <a:noFill/>
          <a:ln cap="flat" cmpd="sng" w="19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6663" y="3630538"/>
            <a:ext cx="4509640" cy="276711"/>
          </a:xfrm>
          <a:prstGeom prst="rect">
            <a:avLst/>
          </a:prstGeom>
          <a:noFill/>
          <a:ln cap="flat" cmpd="sng" w="19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0200" y="4474366"/>
            <a:ext cx="4009855" cy="276297"/>
          </a:xfrm>
          <a:prstGeom prst="rect">
            <a:avLst/>
          </a:prstGeom>
          <a:noFill/>
          <a:ln cap="flat" cmpd="sng" w="180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0550" y="4166431"/>
            <a:ext cx="4009855" cy="296752"/>
          </a:xfrm>
          <a:prstGeom prst="rect">
            <a:avLst/>
          </a:prstGeom>
          <a:noFill/>
          <a:ln cap="flat" cmpd="sng" w="180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3025" y="3907262"/>
            <a:ext cx="4080701" cy="247959"/>
          </a:xfrm>
          <a:prstGeom prst="rect">
            <a:avLst/>
          </a:prstGeom>
          <a:noFill/>
          <a:ln cap="flat" cmpd="sng" w="180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Feature selection</a:t>
            </a:r>
            <a:endParaRPr sz="2820"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3200" y="1063050"/>
            <a:ext cx="4655400" cy="13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Considerata l’alta correlazione tra le features, ne è stata selezionata una piccola porzione su cui fare eseguire i modelli.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7975" y="398304"/>
            <a:ext cx="3624324" cy="325872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11" y="2514525"/>
            <a:ext cx="2183439" cy="2202375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6266" y="2514525"/>
            <a:ext cx="2500510" cy="2202372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7975" y="3905779"/>
            <a:ext cx="3624325" cy="81111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Principal Component Analysis (PCA)</a:t>
            </a:r>
            <a:endParaRPr sz="2820"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925075"/>
            <a:ext cx="8472900" cy="11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700"/>
              <a:t>Per via dell’alta correlazione tra le features è inoltre stata effettuata la PCA tenendo le prime 8 variabili, poiché la curva si appiattisce a partire dall’ottava variabile e considerato l’ambito in questione, la precisione del modello è cruciale.</a:t>
            </a:r>
            <a:endParaRPr sz="1700"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525" y="2007925"/>
            <a:ext cx="3799775" cy="297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07925"/>
            <a:ext cx="4608135" cy="297452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Selezione modelli</a:t>
            </a:r>
            <a:endParaRPr sz="2820"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3200" y="1507650"/>
            <a:ext cx="8472900" cy="28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Valutando tutti i modelli visti durante il corso abbiamo scelto di utilizzare le reti neurali e le Support Vector Machines.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 causa della presenza esclusiva di valori numerici abbiamo scartato gli alberi di decisione e l’apprendimento Bayesiano.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Le reti neurali e le Support Vector Machines riescono a gestire bene i valori numerici, particolarmente per la natura binaria del risultato, per cui abbiamo deciso di utilizzare questi modelli.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Costruzione reti neurali</a:t>
            </a:r>
            <a:endParaRPr sz="2820"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3200" y="986400"/>
            <a:ext cx="4443000" cy="22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Le reti neurali sono state costruite di dimensioni contenute per via della dimensione del dataset. Sono stati utilizzate due tecniche di ottimizzazione per non andare in overfitting.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050" y="406501"/>
            <a:ext cx="4076250" cy="19637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6050" y="2864175"/>
            <a:ext cx="4076250" cy="191116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200" y="2864175"/>
            <a:ext cx="3968498" cy="19111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00" y="3014908"/>
            <a:ext cx="4055680" cy="14958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Costruzione Support Vector Machines</a:t>
            </a:r>
            <a:endParaRPr sz="2820"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3200" y="1121225"/>
            <a:ext cx="3854400" cy="14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Per le Support Vector Machines è stata utilizzata la grid search per determinare i valori ottimali sia per modelli lineari che per kernel RBF.</a:t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1158" y="2987808"/>
            <a:ext cx="4365892" cy="15500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5900" y="1121200"/>
            <a:ext cx="4316400" cy="149585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Risultati</a:t>
            </a:r>
            <a:endParaRPr sz="2820"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1653300"/>
            <a:ext cx="4056600" cy="21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Tutte le pipeline testate presentano risultati estremamente precisi, suggerendo che un dataset di queste dimensioni possa portare a potenziale overfitting, nonostante le precauzioni prese a riguardo.</a:t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0" l="0" r="0" t="4871"/>
          <a:stretch/>
        </p:blipFill>
        <p:spPr>
          <a:xfrm>
            <a:off x="4857350" y="331900"/>
            <a:ext cx="3651301" cy="18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 rotWithShape="1">
          <a:blip r:embed="rId4">
            <a:alphaModFix/>
          </a:blip>
          <a:srcRect b="0" l="0" r="0" t="4871"/>
          <a:stretch/>
        </p:blipFill>
        <p:spPr>
          <a:xfrm>
            <a:off x="4857350" y="2690250"/>
            <a:ext cx="3651301" cy="183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6213050" y="2217650"/>
            <a:ext cx="939900" cy="329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1100">
                <a:solidFill>
                  <a:schemeClr val="dk1"/>
                </a:solidFill>
              </a:rPr>
              <a:t>SVM + PCA</a:t>
            </a:r>
            <a:endParaRPr b="1" i="1" sz="1100">
              <a:solidFill>
                <a:schemeClr val="dk1"/>
              </a:solidFill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6263000" y="4575988"/>
            <a:ext cx="840000" cy="329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1100">
                <a:solidFill>
                  <a:schemeClr val="dk1"/>
                </a:solidFill>
              </a:rPr>
              <a:t>NN </a:t>
            </a:r>
            <a:r>
              <a:rPr b="1" i="1" lang="it" sz="1100">
                <a:solidFill>
                  <a:schemeClr val="dk1"/>
                </a:solidFill>
              </a:rPr>
              <a:t>+ PCA</a:t>
            </a:r>
            <a:endParaRPr b="1" i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t" sz="2920"/>
              <a:t>Fine</a:t>
            </a:r>
            <a:endParaRPr b="1" sz="29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